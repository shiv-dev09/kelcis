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[CLIENT NAME] and the date before sending.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Kelcis positioning. Honest by design — no client names or results claimed.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Service range. Leads with consulting, closes with the managed-service wrapper.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transformation story. Edit the 'typically connected' line to name the prospect's actual stack — it lands far harder when they see their own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Platform rationale. Verify the time-to-value and TCO framing against current Freshworks collateral before sending.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Freshservice capability map. Add product screenshots from your internal access — a real screen beats a capability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ESM expansion — usually the strongest commercial argument, since it widens the footprint without a new platform. Replace the AI line with current Freddy AI positioning from your internal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Freshdesk kept deliberately short. The closing line is the cross-sell into running both platforms.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Engagement model. Name the commercial option you are actually proposing before sending.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small, concrete ask — a single workflow is easier to say yes to than a platform programme.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getsh\AppData\Local\Temp\claude\C--Users-getsh-Claude-Projects-Domain-Name\b922e281-501f-4fef-92d6-124eb0dc05fa\scratchpad\hero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02920"/>
            <a:ext cx="35329" cy="310896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4" name="Shape 1"/>
          <p:cNvSpPr/>
          <p:nvPr/>
        </p:nvSpPr>
        <p:spPr>
          <a:xfrm>
            <a:off x="686008" y="502920"/>
            <a:ext cx="35329" cy="310896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5" name="Shape 2"/>
          <p:cNvSpPr/>
          <p:nvPr/>
        </p:nvSpPr>
        <p:spPr>
          <a:xfrm>
            <a:off x="731936" y="591243"/>
            <a:ext cx="35329" cy="134251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6" name="Shape 3"/>
          <p:cNvSpPr/>
          <p:nvPr/>
        </p:nvSpPr>
        <p:spPr>
          <a:xfrm>
            <a:off x="777863" y="573578"/>
            <a:ext cx="35329" cy="81257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7" name="Shape 4"/>
          <p:cNvSpPr/>
          <p:nvPr/>
        </p:nvSpPr>
        <p:spPr>
          <a:xfrm>
            <a:off x="777863" y="661901"/>
            <a:ext cx="35329" cy="81257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8" name="Shape 5"/>
          <p:cNvSpPr/>
          <p:nvPr/>
        </p:nvSpPr>
        <p:spPr>
          <a:xfrm>
            <a:off x="823791" y="548848"/>
            <a:ext cx="35329" cy="74191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9" name="Shape 6"/>
          <p:cNvSpPr/>
          <p:nvPr/>
        </p:nvSpPr>
        <p:spPr>
          <a:xfrm>
            <a:off x="823791" y="693697"/>
            <a:ext cx="35329" cy="74191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0" name="Shape 7"/>
          <p:cNvSpPr/>
          <p:nvPr/>
        </p:nvSpPr>
        <p:spPr>
          <a:xfrm>
            <a:off x="869719" y="524117"/>
            <a:ext cx="35329" cy="67125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1" name="Shape 8"/>
          <p:cNvSpPr/>
          <p:nvPr/>
        </p:nvSpPr>
        <p:spPr>
          <a:xfrm>
            <a:off x="869719" y="725493"/>
            <a:ext cx="35329" cy="67125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2" name="Shape 9"/>
          <p:cNvSpPr/>
          <p:nvPr/>
        </p:nvSpPr>
        <p:spPr>
          <a:xfrm>
            <a:off x="915647" y="502920"/>
            <a:ext cx="35329" cy="60059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3" name="Shape 10"/>
          <p:cNvSpPr/>
          <p:nvPr/>
        </p:nvSpPr>
        <p:spPr>
          <a:xfrm>
            <a:off x="915647" y="753757"/>
            <a:ext cx="35329" cy="60059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81552" y="4663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74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KELCIS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2194560"/>
            <a:ext cx="8412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b="1" spc="-6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operations,</a:t>
            </a:r>
            <a:endParaRPr lang="en-US" sz="4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200" b="1" spc="-6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be kept.</a:t>
            </a:r>
            <a:endParaRPr lang="en-US" sz="42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41605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2EF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Freshworks consulting, bespoke integration and managed service operations.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5349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CBB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 ·  [CLIENT NAME]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8625535" y="61447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20" kern="0" dirty="0">
                <a:solidFill>
                  <a:srgbClr val="CBB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1323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ARE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consultancy built to be kept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0B0B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Kelcis designs, builds and runs service operations for companies in the Gulf. We take on fewer engagements than we could, and staff each one with the people who scoped it — from first workshop to final handover.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3383280" cy="0"/>
          </a:xfrm>
          <a:prstGeom prst="line">
            <a:avLst/>
          </a:prstGeom>
          <a:noFill/>
          <a:ln w="9525">
            <a:solidFill>
              <a:srgbClr val="E3DD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0416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people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498848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people who scope your engagement deliver it. No handover to a delivery bench.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04208" y="3886200"/>
            <a:ext cx="3383280" cy="0"/>
          </a:xfrm>
          <a:prstGeom prst="line">
            <a:avLst/>
          </a:prstGeom>
          <a:noFill/>
          <a:ln w="9525">
            <a:solidFill>
              <a:srgbClr val="E3DDC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04208" y="40416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hand over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404208" y="4498848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we configure is documented and explainable — you are never locked in.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68335" y="3886200"/>
            <a:ext cx="3383280" cy="0"/>
          </a:xfrm>
          <a:prstGeom prst="line">
            <a:avLst/>
          </a:prstGeom>
          <a:noFill/>
          <a:ln w="9525">
            <a:solidFill>
              <a:srgbClr val="E3DDC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68335" y="40416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in outcomes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168335" y="4498848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Response, resolution and adoption targets agreed before we start, reported against after.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5" name="Shape 13"/>
          <p:cNvSpPr/>
          <p:nvPr/>
        </p:nvSpPr>
        <p:spPr>
          <a:xfrm>
            <a:off x="669798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6" name="Shape 14"/>
          <p:cNvSpPr/>
          <p:nvPr/>
        </p:nvSpPr>
        <p:spPr>
          <a:xfrm>
            <a:off x="699516" y="6247638"/>
            <a:ext cx="22860" cy="868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7" name="Shape 15"/>
          <p:cNvSpPr/>
          <p:nvPr/>
        </p:nvSpPr>
        <p:spPr>
          <a:xfrm>
            <a:off x="729234" y="623620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8" name="Shape 16"/>
          <p:cNvSpPr/>
          <p:nvPr/>
        </p:nvSpPr>
        <p:spPr>
          <a:xfrm>
            <a:off x="729234" y="629335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9" name="Shape 17"/>
          <p:cNvSpPr/>
          <p:nvPr/>
        </p:nvSpPr>
        <p:spPr>
          <a:xfrm>
            <a:off x="758952" y="6220206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0" name="Shape 18"/>
          <p:cNvSpPr/>
          <p:nvPr/>
        </p:nvSpPr>
        <p:spPr>
          <a:xfrm>
            <a:off x="758952" y="6313932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1" name="Shape 19"/>
          <p:cNvSpPr/>
          <p:nvPr/>
        </p:nvSpPr>
        <p:spPr>
          <a:xfrm>
            <a:off x="788670" y="6204204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2" name="Shape 20"/>
          <p:cNvSpPr/>
          <p:nvPr/>
        </p:nvSpPr>
        <p:spPr>
          <a:xfrm>
            <a:off x="788670" y="6334506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3" name="Shape 21"/>
          <p:cNvSpPr/>
          <p:nvPr/>
        </p:nvSpPr>
        <p:spPr>
          <a:xfrm>
            <a:off x="818388" y="6190488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4" name="Shape 22"/>
          <p:cNvSpPr/>
          <p:nvPr/>
        </p:nvSpPr>
        <p:spPr>
          <a:xfrm>
            <a:off x="818388" y="6352794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454335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60" kern="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1323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disciplines, one standard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402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694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Freshworks consulting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08376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Implementation, audits and architecture across the suite.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404208" y="22402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404208" y="25694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services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404208" y="3008376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platform run and refined by named engineers.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168335" y="22402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168335" y="25694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Bespoke integrations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168335" y="3008376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Connections to the systems your business already trusts.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9319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2611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automation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700016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routine removed, with a human override on everything.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404208" y="39319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404208" y="42611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support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404208" y="4700016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Front-line desks staffed, measured and coached weekly.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168335" y="39319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168335" y="42611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success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168335" y="4700016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Adoption, health and renewals managed as a discipline.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3" name="Shape 21"/>
          <p:cNvSpPr/>
          <p:nvPr/>
        </p:nvSpPr>
        <p:spPr>
          <a:xfrm>
            <a:off x="669798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4" name="Shape 22"/>
          <p:cNvSpPr/>
          <p:nvPr/>
        </p:nvSpPr>
        <p:spPr>
          <a:xfrm>
            <a:off x="699516" y="6247638"/>
            <a:ext cx="22860" cy="868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5" name="Shape 23"/>
          <p:cNvSpPr/>
          <p:nvPr/>
        </p:nvSpPr>
        <p:spPr>
          <a:xfrm>
            <a:off x="729234" y="623620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6" name="Shape 24"/>
          <p:cNvSpPr/>
          <p:nvPr/>
        </p:nvSpPr>
        <p:spPr>
          <a:xfrm>
            <a:off x="729234" y="629335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7" name="Shape 25"/>
          <p:cNvSpPr/>
          <p:nvPr/>
        </p:nvSpPr>
        <p:spPr>
          <a:xfrm>
            <a:off x="758952" y="6220206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8" name="Shape 26"/>
          <p:cNvSpPr/>
          <p:nvPr/>
        </p:nvSpPr>
        <p:spPr>
          <a:xfrm>
            <a:off x="758952" y="6313932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9" name="Shape 27"/>
          <p:cNvSpPr/>
          <p:nvPr/>
        </p:nvSpPr>
        <p:spPr>
          <a:xfrm>
            <a:off x="788670" y="6204204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30" name="Shape 28"/>
          <p:cNvSpPr/>
          <p:nvPr/>
        </p:nvSpPr>
        <p:spPr>
          <a:xfrm>
            <a:off x="788670" y="6334506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31" name="Shape 29"/>
          <p:cNvSpPr/>
          <p:nvPr/>
        </p:nvSpPr>
        <p:spPr>
          <a:xfrm>
            <a:off x="818388" y="6190488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32" name="Shape 30"/>
          <p:cNvSpPr/>
          <p:nvPr/>
        </p:nvSpPr>
        <p:spPr>
          <a:xfrm>
            <a:off x="818388" y="6352794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0454335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60" kern="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1323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platform. Every system. Run for you.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BB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service estates are not short of software — they are short of connection. We consolidate the platform, wire it to what you already run, automate what nobody should be doing by hand, then operate it.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97180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C88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310128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822192"/>
            <a:ext cx="2615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B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desks, inboxes and trackers become one service platform with one queue and one source of truth.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405530" y="297180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C88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405530" y="3310128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3405530" y="3822192"/>
            <a:ext cx="2615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B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Bespoke integrations to the systems that run your business, so data moves without people carrying it.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170981" y="297180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C88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170981" y="3310128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6170981" y="3822192"/>
            <a:ext cx="2615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B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Routing, approvals and follow-ups run themselves — documented, reversible and owned by you.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936431" y="297180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C88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936431" y="3310128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8936431" y="3822192"/>
            <a:ext cx="2615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B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run it as a managed service: administration, optimisation and reporting against agreed outcomes.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468112"/>
            <a:ext cx="10911535" cy="0"/>
          </a:xfrm>
          <a:prstGeom prst="line">
            <a:avLst/>
          </a:prstGeom>
          <a:noFill/>
          <a:ln w="9525">
            <a:solidFill>
              <a:srgbClr val="3A32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56144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TYPICALLY CONNECTED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92531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 ·  HRIS  ·  Identity &amp; SSO  ·  Finance &amp; billing  ·  Telephony  ·  Endpoint management  ·  Monitoring  ·  Data warehouse  ·  Microsoft 365  ·  Google Workspace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1323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build on Freshworks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174175" y="868680"/>
            <a:ext cx="2377440" cy="914400"/>
          </a:xfrm>
          <a:prstGeom prst="rect">
            <a:avLst/>
          </a:prstGeom>
          <a:noFill/>
          <a:ln w="12700">
            <a:solidFill>
              <a:srgbClr val="E3DDCE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9174175" y="868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40" kern="0" dirty="0">
                <a:solidFill>
                  <a:srgbClr val="B4A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FRESHWORKS LOGO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0B0B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service software without the enterprise implementation. Freshworks deploys in weeks rather than quarters, is configured by the people who use it, and carries a total cost that survives a finance review.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3383280" cy="0"/>
          </a:xfrm>
          <a:prstGeom prst="line">
            <a:avLst/>
          </a:prstGeom>
          <a:noFill/>
          <a:ln w="9525">
            <a:solidFill>
              <a:srgbClr val="E3DDC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7673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value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224528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 weeks. Configuration over custom development, so the first workflows land early.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04208" y="3611880"/>
            <a:ext cx="3383280" cy="0"/>
          </a:xfrm>
          <a:prstGeom prst="line">
            <a:avLst/>
          </a:prstGeom>
          <a:noFill/>
          <a:ln w="9525">
            <a:solidFill>
              <a:srgbClr val="E3DDC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04208" y="37673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ownership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404208" y="4224528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Licensing and administration that scale with use, not with a professional-services dependency.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68335" y="3611880"/>
            <a:ext cx="3383280" cy="0"/>
          </a:xfrm>
          <a:prstGeom prst="line">
            <a:avLst/>
          </a:prstGeom>
          <a:noFill/>
          <a:ln w="9525">
            <a:solidFill>
              <a:srgbClr val="E3DDC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68335" y="37673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168335" y="4224528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people use without training decks — the measure of whether a rollout actually worked.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6692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Kelcis is an independent consultancy and is not affiliated with Freshworks Inc. Product names and marks are the property of their respective owners.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8" name="Shape 16"/>
          <p:cNvSpPr/>
          <p:nvPr/>
        </p:nvSpPr>
        <p:spPr>
          <a:xfrm>
            <a:off x="669798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9" name="Shape 17"/>
          <p:cNvSpPr/>
          <p:nvPr/>
        </p:nvSpPr>
        <p:spPr>
          <a:xfrm>
            <a:off x="699516" y="6247638"/>
            <a:ext cx="22860" cy="868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0" name="Shape 18"/>
          <p:cNvSpPr/>
          <p:nvPr/>
        </p:nvSpPr>
        <p:spPr>
          <a:xfrm>
            <a:off x="729234" y="623620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1" name="Shape 19"/>
          <p:cNvSpPr/>
          <p:nvPr/>
        </p:nvSpPr>
        <p:spPr>
          <a:xfrm>
            <a:off x="729234" y="629335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2" name="Shape 20"/>
          <p:cNvSpPr/>
          <p:nvPr/>
        </p:nvSpPr>
        <p:spPr>
          <a:xfrm>
            <a:off x="758952" y="6220206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3" name="Shape 21"/>
          <p:cNvSpPr/>
          <p:nvPr/>
        </p:nvSpPr>
        <p:spPr>
          <a:xfrm>
            <a:off x="758952" y="6313932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4" name="Shape 22"/>
          <p:cNvSpPr/>
          <p:nvPr/>
        </p:nvSpPr>
        <p:spPr>
          <a:xfrm>
            <a:off x="788670" y="6204204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5" name="Shape 23"/>
          <p:cNvSpPr/>
          <p:nvPr/>
        </p:nvSpPr>
        <p:spPr>
          <a:xfrm>
            <a:off x="788670" y="6334506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6" name="Shape 24"/>
          <p:cNvSpPr/>
          <p:nvPr/>
        </p:nvSpPr>
        <p:spPr>
          <a:xfrm>
            <a:off x="818388" y="6190488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7" name="Shape 25"/>
          <p:cNvSpPr/>
          <p:nvPr/>
        </p:nvSpPr>
        <p:spPr>
          <a:xfrm>
            <a:off x="818388" y="6352794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454335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60" kern="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1323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FRESHSERVICE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service management, without the ceremony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174175" y="868680"/>
            <a:ext cx="2377440" cy="914400"/>
          </a:xfrm>
          <a:prstGeom prst="rect">
            <a:avLst/>
          </a:prstGeom>
          <a:noFill/>
          <a:ln w="12700">
            <a:solidFill>
              <a:srgbClr val="4A423A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9174175" y="868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40" kern="0" dirty="0">
                <a:solidFill>
                  <a:srgbClr val="6F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FRESHSERVICE LOGO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871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desk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07792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B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Incident, problem, change and release handled in one queue, with the ITIL practices you actually use.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404208" y="24871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catalogue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404208" y="2907792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B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raised from a catalogue people can navigate, with approvals routed automatically.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168335" y="24871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 &amp; CMDB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168335" y="2907792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B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Hardware, software and contracts tracked with relationships mapped, so change has context.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206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automation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626864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B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Routing, approvals and escalation built visually — no scripts nobody can maintain.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404208" y="4206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journeys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404208" y="4626864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B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and offboarding as orchestrated workflows across IT, HR and facilities.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168335" y="4206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168335" y="4626864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B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Response, resolution, backlog and satisfaction reported with commentary leadership will read.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9" name="Shape 17"/>
          <p:cNvSpPr/>
          <p:nvPr/>
        </p:nvSpPr>
        <p:spPr>
          <a:xfrm>
            <a:off x="669798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0" name="Shape 18"/>
          <p:cNvSpPr/>
          <p:nvPr/>
        </p:nvSpPr>
        <p:spPr>
          <a:xfrm>
            <a:off x="699516" y="6247638"/>
            <a:ext cx="22860" cy="868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1" name="Shape 19"/>
          <p:cNvSpPr/>
          <p:nvPr/>
        </p:nvSpPr>
        <p:spPr>
          <a:xfrm>
            <a:off x="729234" y="623620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2" name="Shape 20"/>
          <p:cNvSpPr/>
          <p:nvPr/>
        </p:nvSpPr>
        <p:spPr>
          <a:xfrm>
            <a:off x="729234" y="629335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3" name="Shape 21"/>
          <p:cNvSpPr/>
          <p:nvPr/>
        </p:nvSpPr>
        <p:spPr>
          <a:xfrm>
            <a:off x="758952" y="6220206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4" name="Shape 22"/>
          <p:cNvSpPr/>
          <p:nvPr/>
        </p:nvSpPr>
        <p:spPr>
          <a:xfrm>
            <a:off x="758952" y="6313932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5" name="Shape 23"/>
          <p:cNvSpPr/>
          <p:nvPr/>
        </p:nvSpPr>
        <p:spPr>
          <a:xfrm>
            <a:off x="788670" y="6204204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6" name="Shape 24"/>
          <p:cNvSpPr/>
          <p:nvPr/>
        </p:nvSpPr>
        <p:spPr>
          <a:xfrm>
            <a:off x="788670" y="6334506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7" name="Shape 25"/>
          <p:cNvSpPr/>
          <p:nvPr/>
        </p:nvSpPr>
        <p:spPr>
          <a:xfrm>
            <a:off x="818388" y="6190488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8" name="Shape 26"/>
          <p:cNvSpPr/>
          <p:nvPr/>
        </p:nvSpPr>
        <p:spPr>
          <a:xfrm>
            <a:off x="818388" y="6352794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454335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60" kern="0" dirty="0">
                <a:solidFill>
                  <a:srgbClr val="CBB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1323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FRESHSERVICE  ·  BEYOND IT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desk, for every department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A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management stops being an IT tool the moment other teams run on it. The licence you already own extends to the departments that field the most repetitive requests.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2615184" cy="0"/>
          </a:xfrm>
          <a:prstGeom prst="line">
            <a:avLst/>
          </a:prstGeom>
          <a:noFill/>
          <a:ln w="9525">
            <a:solidFill>
              <a:srgbClr val="E3DD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364992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895344"/>
            <a:ext cx="2615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Incidents, requests, access, assets, change — the core desk.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05530" y="3200400"/>
            <a:ext cx="2615184" cy="0"/>
          </a:xfrm>
          <a:prstGeom prst="line">
            <a:avLst/>
          </a:prstGeom>
          <a:noFill/>
          <a:ln w="9525">
            <a:solidFill>
              <a:srgbClr val="E3DDC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05530" y="3364992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2300" dirty="0"/>
          </a:p>
        </p:txBody>
      </p:sp>
      <p:sp>
        <p:nvSpPr>
          <p:cNvPr id="10" name="Text 8"/>
          <p:cNvSpPr txBox="1"/>
          <p:nvPr/>
        </p:nvSpPr>
        <p:spPr>
          <a:xfrm>
            <a:off x="3405530" y="3895344"/>
            <a:ext cx="2615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Onboarding, letters, leave queries and policy requests, with confidentiality preserved.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0981" y="3200400"/>
            <a:ext cx="2615184" cy="0"/>
          </a:xfrm>
          <a:prstGeom prst="line">
            <a:avLst/>
          </a:prstGeom>
          <a:noFill/>
          <a:ln w="9525">
            <a:solidFill>
              <a:srgbClr val="E3DDC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70981" y="3364992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Facilities</a:t>
            </a:r>
            <a:endParaRPr lang="en-US" sz="2300" dirty="0"/>
          </a:p>
        </p:txBody>
      </p:sp>
      <p:sp>
        <p:nvSpPr>
          <p:cNvPr id="13" name="Text 11"/>
          <p:cNvSpPr txBox="1"/>
          <p:nvPr/>
        </p:nvSpPr>
        <p:spPr>
          <a:xfrm>
            <a:off x="6170981" y="3895344"/>
            <a:ext cx="2615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Maintenance, access cards, seating and vendor coordination on the same queue.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936431" y="3200400"/>
            <a:ext cx="2615184" cy="0"/>
          </a:xfrm>
          <a:prstGeom prst="line">
            <a:avLst/>
          </a:prstGeom>
          <a:noFill/>
          <a:ln w="9525">
            <a:solidFill>
              <a:srgbClr val="E3DDC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36431" y="3364992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2300" dirty="0"/>
          </a:p>
        </p:txBody>
      </p:sp>
      <p:sp>
        <p:nvSpPr>
          <p:cNvPr id="16" name="Text 14"/>
          <p:cNvSpPr txBox="1"/>
          <p:nvPr/>
        </p:nvSpPr>
        <p:spPr>
          <a:xfrm>
            <a:off x="8936431" y="3895344"/>
            <a:ext cx="2615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approvals, vendor onboarding, invoice queries and reimbursement requests.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577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goes next:  AI-assisted triage and deflection, once the desk has enough clean history to learn from.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9" name="Shape 17"/>
          <p:cNvSpPr/>
          <p:nvPr/>
        </p:nvSpPr>
        <p:spPr>
          <a:xfrm>
            <a:off x="669798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0" name="Shape 18"/>
          <p:cNvSpPr/>
          <p:nvPr/>
        </p:nvSpPr>
        <p:spPr>
          <a:xfrm>
            <a:off x="699516" y="6247638"/>
            <a:ext cx="22860" cy="868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1" name="Shape 19"/>
          <p:cNvSpPr/>
          <p:nvPr/>
        </p:nvSpPr>
        <p:spPr>
          <a:xfrm>
            <a:off x="729234" y="623620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2" name="Shape 20"/>
          <p:cNvSpPr/>
          <p:nvPr/>
        </p:nvSpPr>
        <p:spPr>
          <a:xfrm>
            <a:off x="729234" y="629335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3" name="Shape 21"/>
          <p:cNvSpPr/>
          <p:nvPr/>
        </p:nvSpPr>
        <p:spPr>
          <a:xfrm>
            <a:off x="758952" y="6220206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4" name="Shape 22"/>
          <p:cNvSpPr/>
          <p:nvPr/>
        </p:nvSpPr>
        <p:spPr>
          <a:xfrm>
            <a:off x="758952" y="6313932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5" name="Shape 23"/>
          <p:cNvSpPr/>
          <p:nvPr/>
        </p:nvSpPr>
        <p:spPr>
          <a:xfrm>
            <a:off x="788670" y="6204204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6" name="Shape 24"/>
          <p:cNvSpPr/>
          <p:nvPr/>
        </p:nvSpPr>
        <p:spPr>
          <a:xfrm>
            <a:off x="788670" y="6334506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7" name="Shape 25"/>
          <p:cNvSpPr/>
          <p:nvPr/>
        </p:nvSpPr>
        <p:spPr>
          <a:xfrm>
            <a:off x="818388" y="6190488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8" name="Shape 26"/>
          <p:cNvSpPr/>
          <p:nvPr/>
        </p:nvSpPr>
        <p:spPr>
          <a:xfrm>
            <a:off x="818388" y="6352794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454335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60" kern="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1323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FRESHDESK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customer is waiting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174175" y="868680"/>
            <a:ext cx="2377440" cy="914400"/>
          </a:xfrm>
          <a:prstGeom prst="rect">
            <a:avLst/>
          </a:prstGeom>
          <a:noFill/>
          <a:ln w="12700">
            <a:solidFill>
              <a:srgbClr val="E3DDCE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9174175" y="868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40" kern="0" dirty="0">
                <a:solidFill>
                  <a:srgbClr val="B4A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FRESHDESK LOGO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0B0B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Freshservice serves your employees, Freshdesk serves your customers — every channel landing in one queue, with the context already attached.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3383280" cy="0"/>
          </a:xfrm>
          <a:prstGeom prst="line">
            <a:avLst/>
          </a:prstGeom>
          <a:noFill/>
          <a:ln w="9525">
            <a:solidFill>
              <a:srgbClr val="E3DDC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5844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Omnichannel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041648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Email, chat, voice, web and messaging apps in a single queue with one customer history.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04208" y="3429000"/>
            <a:ext cx="3383280" cy="0"/>
          </a:xfrm>
          <a:prstGeom prst="line">
            <a:avLst/>
          </a:prstGeom>
          <a:noFill/>
          <a:ln w="9525">
            <a:solidFill>
              <a:srgbClr val="E3DDC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04208" y="35844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404208" y="4041648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knowledge base that deflects the repeat questions before they become tickets.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68335" y="3429000"/>
            <a:ext cx="3383280" cy="0"/>
          </a:xfrm>
          <a:prstGeom prst="line">
            <a:avLst/>
          </a:prstGeom>
          <a:noFill/>
          <a:ln w="9525">
            <a:solidFill>
              <a:srgbClr val="E3DDC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68335" y="35844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SLAs &amp; escalation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168335" y="4041648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Commitments tracked per customer tier, with escalation before a breach, not after.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48640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both and the join matters: an employee request and a customer complaint about the same incident should never be two separate investigations.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8" name="Shape 16"/>
          <p:cNvSpPr/>
          <p:nvPr/>
        </p:nvSpPr>
        <p:spPr>
          <a:xfrm>
            <a:off x="669798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9" name="Shape 17"/>
          <p:cNvSpPr/>
          <p:nvPr/>
        </p:nvSpPr>
        <p:spPr>
          <a:xfrm>
            <a:off x="699516" y="6247638"/>
            <a:ext cx="22860" cy="868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0" name="Shape 18"/>
          <p:cNvSpPr/>
          <p:nvPr/>
        </p:nvSpPr>
        <p:spPr>
          <a:xfrm>
            <a:off x="729234" y="623620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1" name="Shape 19"/>
          <p:cNvSpPr/>
          <p:nvPr/>
        </p:nvSpPr>
        <p:spPr>
          <a:xfrm>
            <a:off x="729234" y="629335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2" name="Shape 20"/>
          <p:cNvSpPr/>
          <p:nvPr/>
        </p:nvSpPr>
        <p:spPr>
          <a:xfrm>
            <a:off x="758952" y="6220206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3" name="Shape 21"/>
          <p:cNvSpPr/>
          <p:nvPr/>
        </p:nvSpPr>
        <p:spPr>
          <a:xfrm>
            <a:off x="758952" y="6313932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4" name="Shape 22"/>
          <p:cNvSpPr/>
          <p:nvPr/>
        </p:nvSpPr>
        <p:spPr>
          <a:xfrm>
            <a:off x="788670" y="6204204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5" name="Shape 23"/>
          <p:cNvSpPr/>
          <p:nvPr/>
        </p:nvSpPr>
        <p:spPr>
          <a:xfrm>
            <a:off x="788670" y="6334506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6" name="Shape 24"/>
          <p:cNvSpPr/>
          <p:nvPr/>
        </p:nvSpPr>
        <p:spPr>
          <a:xfrm>
            <a:off x="818388" y="6190488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7" name="Shape 25"/>
          <p:cNvSpPr/>
          <p:nvPr/>
        </p:nvSpPr>
        <p:spPr>
          <a:xfrm>
            <a:off x="818388" y="6352794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454335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60" kern="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1323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ENGAGE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steps, then we stay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33472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63824"/>
            <a:ext cx="2615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short, structured discovery of how your teams work today — not how the software assumes they do.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405530" y="228600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405530" y="2633472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405530" y="3163824"/>
            <a:ext cx="2615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plan measured in outcomes, priced by the people who deliver it.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170981" y="228600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170981" y="2633472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170981" y="3163824"/>
            <a:ext cx="2615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Configuration, integration and automation in visible weekly cycles, in your own environment.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936431" y="228600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936431" y="2633472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936431" y="3163824"/>
            <a:ext cx="2615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service after go-live: administration, optimisation and reporting.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10911535" cy="0"/>
          </a:xfrm>
          <a:prstGeom prst="line">
            <a:avLst/>
          </a:prstGeom>
          <a:noFill/>
          <a:ln w="9525">
            <a:solidFill>
              <a:srgbClr val="E3DDC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50474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OPTIONS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39496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70585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scope, fixed price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404208" y="539496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service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404208" y="570585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Monthly, named engineers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168335" y="539496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168335" y="570585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and roadmap only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5" name="Shape 23"/>
          <p:cNvSpPr/>
          <p:nvPr/>
        </p:nvSpPr>
        <p:spPr>
          <a:xfrm>
            <a:off x="669798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6" name="Shape 24"/>
          <p:cNvSpPr/>
          <p:nvPr/>
        </p:nvSpPr>
        <p:spPr>
          <a:xfrm>
            <a:off x="699516" y="6247638"/>
            <a:ext cx="22860" cy="868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7" name="Shape 25"/>
          <p:cNvSpPr/>
          <p:nvPr/>
        </p:nvSpPr>
        <p:spPr>
          <a:xfrm>
            <a:off x="729234" y="623620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8" name="Shape 26"/>
          <p:cNvSpPr/>
          <p:nvPr/>
        </p:nvSpPr>
        <p:spPr>
          <a:xfrm>
            <a:off x="729234" y="629335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9" name="Shape 27"/>
          <p:cNvSpPr/>
          <p:nvPr/>
        </p:nvSpPr>
        <p:spPr>
          <a:xfrm>
            <a:off x="758952" y="6220206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30" name="Shape 28"/>
          <p:cNvSpPr/>
          <p:nvPr/>
        </p:nvSpPr>
        <p:spPr>
          <a:xfrm>
            <a:off x="758952" y="6313932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31" name="Shape 29"/>
          <p:cNvSpPr/>
          <p:nvPr/>
        </p:nvSpPr>
        <p:spPr>
          <a:xfrm>
            <a:off x="788670" y="6204204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32" name="Shape 30"/>
          <p:cNvSpPr/>
          <p:nvPr/>
        </p:nvSpPr>
        <p:spPr>
          <a:xfrm>
            <a:off x="788670" y="6334506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33" name="Shape 31"/>
          <p:cNvSpPr/>
          <p:nvPr/>
        </p:nvSpPr>
        <p:spPr>
          <a:xfrm>
            <a:off x="818388" y="6190488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34" name="Shape 32"/>
          <p:cNvSpPr/>
          <p:nvPr/>
        </p:nvSpPr>
        <p:spPr>
          <a:xfrm>
            <a:off x="818388" y="6352794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454335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60" kern="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getsh\AppData\Local\Temp\claude\C--Users-getsh-Claude-Projects-Domain-Name\b922e281-501f-4fef-92d6-124eb0dc05fa\scratchpad\hero-gradient-fl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02920"/>
            <a:ext cx="35329" cy="310896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4" name="Shape 1"/>
          <p:cNvSpPr/>
          <p:nvPr/>
        </p:nvSpPr>
        <p:spPr>
          <a:xfrm>
            <a:off x="686008" y="502920"/>
            <a:ext cx="35329" cy="310896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5" name="Shape 2"/>
          <p:cNvSpPr/>
          <p:nvPr/>
        </p:nvSpPr>
        <p:spPr>
          <a:xfrm>
            <a:off x="731936" y="591243"/>
            <a:ext cx="35329" cy="134251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6" name="Shape 3"/>
          <p:cNvSpPr/>
          <p:nvPr/>
        </p:nvSpPr>
        <p:spPr>
          <a:xfrm>
            <a:off x="777863" y="573578"/>
            <a:ext cx="35329" cy="81257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7" name="Shape 4"/>
          <p:cNvSpPr/>
          <p:nvPr/>
        </p:nvSpPr>
        <p:spPr>
          <a:xfrm>
            <a:off x="777863" y="661901"/>
            <a:ext cx="35329" cy="81257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8" name="Shape 5"/>
          <p:cNvSpPr/>
          <p:nvPr/>
        </p:nvSpPr>
        <p:spPr>
          <a:xfrm>
            <a:off x="823791" y="548848"/>
            <a:ext cx="35329" cy="74191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9" name="Shape 6"/>
          <p:cNvSpPr/>
          <p:nvPr/>
        </p:nvSpPr>
        <p:spPr>
          <a:xfrm>
            <a:off x="823791" y="693697"/>
            <a:ext cx="35329" cy="74191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0" name="Shape 7"/>
          <p:cNvSpPr/>
          <p:nvPr/>
        </p:nvSpPr>
        <p:spPr>
          <a:xfrm>
            <a:off x="869719" y="524117"/>
            <a:ext cx="35329" cy="67125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1" name="Shape 8"/>
          <p:cNvSpPr/>
          <p:nvPr/>
        </p:nvSpPr>
        <p:spPr>
          <a:xfrm>
            <a:off x="869719" y="725493"/>
            <a:ext cx="35329" cy="67125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2" name="Shape 9"/>
          <p:cNvSpPr/>
          <p:nvPr/>
        </p:nvSpPr>
        <p:spPr>
          <a:xfrm>
            <a:off x="915647" y="502920"/>
            <a:ext cx="35329" cy="60059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3" name="Shape 10"/>
          <p:cNvSpPr/>
          <p:nvPr/>
        </p:nvSpPr>
        <p:spPr>
          <a:xfrm>
            <a:off x="915647" y="753757"/>
            <a:ext cx="35329" cy="60059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81552" y="4663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74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KELCIS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22860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7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one workflow.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342900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F2EF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would rather prove this on a single process than present another slide about it. Give us your most repetitive workflow and we will show you what it looks like working.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4709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2EF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hello@kelcis.com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51389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B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kelcis.com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7436815" y="61447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40" kern="0" dirty="0">
                <a:solidFill>
                  <a:srgbClr val="CBB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QUIET EXECUTION.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Kelcis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Kelcis — Service operations on Freshworks</dc:title>
  <dc:subject>PptxGenJS Presentation</dc:subject>
  <dc:creator>Kelcis</dc:creator>
  <cp:lastModifiedBy>Kelcis</cp:lastModifiedBy>
  <cp:revision>1</cp:revision>
  <dcterms:created xsi:type="dcterms:W3CDTF">2026-09-25T07:10:16Z</dcterms:created>
  <dcterms:modified xsi:type="dcterms:W3CDTF">2026-09-25T07:10:16Z</dcterms:modified>
</cp:coreProperties>
</file>