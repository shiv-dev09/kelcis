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Cover. Replace title, subtitle, presenter and date. Keep the lockup position unaltered.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Agenda. Delete unused rows — do not leave empty numbered slots.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Duplicate for each section; update the number and title.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Statement slide. One idea only — no bullets, no supporting grid.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Two-column content. Balance the columns — do not let one run twice the length of the other.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Three-column grid. Works for services, capabilities or options. Keep bodies to equal length.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Stats. Only use numbers you can evidence. Three is the maximum — more reads as noise.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Process. Numbered because the order carries meaning — do not renumber out of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Quote. Use only with the client's written approval, attributed as they have agreed.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Closing. Keep the contact line as the last thing on screen.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etsh\AppData\Local\Temp\claude\C--Users-getsh-Claude-Projects-Domain-Name\b922e281-501f-4fef-92d6-124eb0dc05fa\scratchpad\hero-gradi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4" name="Shape 1"/>
          <p:cNvSpPr/>
          <p:nvPr/>
        </p:nvSpPr>
        <p:spPr>
          <a:xfrm>
            <a:off x="686008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" name="Shape 2"/>
          <p:cNvSpPr/>
          <p:nvPr/>
        </p:nvSpPr>
        <p:spPr>
          <a:xfrm>
            <a:off x="731936" y="591243"/>
            <a:ext cx="35329" cy="13425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" name="Shape 3"/>
          <p:cNvSpPr/>
          <p:nvPr/>
        </p:nvSpPr>
        <p:spPr>
          <a:xfrm>
            <a:off x="777863" y="573578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" name="Shape 4"/>
          <p:cNvSpPr/>
          <p:nvPr/>
        </p:nvSpPr>
        <p:spPr>
          <a:xfrm>
            <a:off x="777863" y="661901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8" name="Shape 5"/>
          <p:cNvSpPr/>
          <p:nvPr/>
        </p:nvSpPr>
        <p:spPr>
          <a:xfrm>
            <a:off x="823791" y="548848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" name="Shape 6"/>
          <p:cNvSpPr/>
          <p:nvPr/>
        </p:nvSpPr>
        <p:spPr>
          <a:xfrm>
            <a:off x="823791" y="693697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869719" y="524117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" name="Shape 8"/>
          <p:cNvSpPr/>
          <p:nvPr/>
        </p:nvSpPr>
        <p:spPr>
          <a:xfrm>
            <a:off x="869719" y="725493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2" name="Shape 9"/>
          <p:cNvSpPr/>
          <p:nvPr/>
        </p:nvSpPr>
        <p:spPr>
          <a:xfrm>
            <a:off x="915647" y="502920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" name="Shape 10"/>
          <p:cNvSpPr/>
          <p:nvPr/>
        </p:nvSpPr>
        <p:spPr>
          <a:xfrm>
            <a:off x="915647" y="753757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1552" y="466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74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240280"/>
            <a:ext cx="8412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spc="-6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title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spc="-6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sentence case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4224528"/>
            <a:ext cx="6583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or two lines of subtitle explaining what this deck covers and who it is for.</a:t>
            </a:r>
            <a:endParaRPr lang="en-US" sz="16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534924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Presenter name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563270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Designation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8625535" y="61447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2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will cover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04872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1508760" y="23591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760720" y="2377440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line describing this section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008376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40080" y="3172968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31272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5760720" y="3145536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line describing this section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76472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3941064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89534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760720" y="3913632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line describing this section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544568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0080" y="4709160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663440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four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760720" y="4681728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line describing this section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40080" y="5312664"/>
            <a:ext cx="10911535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5477256"/>
            <a:ext cx="640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4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43153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five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5760720" y="5449824"/>
            <a:ext cx="57908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short line describing this section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Shape 25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8" name="Shape 26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9" name="Shape 27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0" name="Shape 28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1" name="Shape 29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2" name="Shape 30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3" name="Shape 31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4" name="Shape 32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783080"/>
            <a:ext cx="2743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0" b="1" spc="-10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2461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7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title here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407408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B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line on what this section establishes.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6" name="Shape 4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7" name="Shape 5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8" name="Shape 6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9" name="Shape 7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3" name="Shape 11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PHILOSOPHY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102412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6000"/>
              </a:lnSpc>
              <a:buNone/>
            </a:pPr>
            <a:r>
              <a:rPr lang="en-US" sz="34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best operations are boring. Tickets answered before they age. Integrations that never make the news.</a:t>
            </a:r>
            <a:endParaRPr lang="en-US" sz="3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800600"/>
            <a:ext cx="5852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5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this layout for a single idea that deserves the whole slide. Keep it to two sentences; let the space carry the weight.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6" name="Shape 4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7" name="Shape 5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8" name="Shape 6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9" name="Shape 7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3" name="Shape 11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 headline in sentence case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1051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E6A6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Add a brief description of contents if needed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situation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31012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detailed information here. Keep it light — three to five lines is usually enough for a single column of argument.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583680" y="2834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costs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83680" y="3310128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 detailed information here. Where a number carries the point, put the number first and the explanation second.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0" name="Shape 8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1" name="Shape 9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3" name="Shape 11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5" name="Shape 13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6" name="Shape 14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disciplines, one standard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1272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Consulting</a:t>
            </a:r>
            <a:endParaRPr lang="en-US" sz="21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3931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Implementation, audits and architecture — configured around how your teams actually work.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04208" y="260604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404208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404208" y="31272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Managed services</a:t>
            </a:r>
            <a:endParaRPr lang="en-US" sz="2100" dirty="0"/>
          </a:p>
        </p:txBody>
      </p:sp>
      <p:sp>
        <p:nvSpPr>
          <p:cNvPr id="11" name="Text 9"/>
          <p:cNvSpPr txBox="1"/>
          <p:nvPr/>
        </p:nvSpPr>
        <p:spPr>
          <a:xfrm>
            <a:off x="4404208" y="363931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service operation, run and refined by people who own the outcome.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168335" y="2606040"/>
            <a:ext cx="3383280" cy="0"/>
          </a:xfrm>
          <a:prstGeom prst="line">
            <a:avLst/>
          </a:prstGeom>
          <a:noFill/>
          <a:ln w="9525">
            <a:solidFill>
              <a:srgbClr val="E3DDCE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168335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168335" y="3127248"/>
            <a:ext cx="33832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Automation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8168335" y="3639312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routine, removed. Processes that run themselves, with a human override.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Evidence, stated plainly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51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XX%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 DESCRIPTOR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1879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number measures and over what period.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4404208" y="2651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</a:t>
            </a:r>
            <a:endParaRPr lang="en-US" sz="6000" dirty="0"/>
          </a:p>
        </p:txBody>
      </p:sp>
      <p:sp>
        <p:nvSpPr>
          <p:cNvPr id="8" name="Text 6"/>
          <p:cNvSpPr txBox="1"/>
          <p:nvPr/>
        </p:nvSpPr>
        <p:spPr>
          <a:xfrm>
            <a:off x="4404208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 DESCRIPTOR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4404208" y="41879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number measures and over what period.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168335" y="2651760"/>
            <a:ext cx="33832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spc="-14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XXh</a:t>
            </a:r>
            <a:endParaRPr lang="en-US" sz="6000" dirty="0"/>
          </a:p>
        </p:txBody>
      </p:sp>
      <p:sp>
        <p:nvSpPr>
          <p:cNvPr id="11" name="Text 9"/>
          <p:cNvSpPr txBox="1"/>
          <p:nvPr/>
        </p:nvSpPr>
        <p:spPr>
          <a:xfrm>
            <a:off x="8168335" y="37947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2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 DESCRIPTOR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8168335" y="4187952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25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line explaining what the number measures and over what period.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5" name="Shape 13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6" name="Shape 14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F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WE WORK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42416"/>
            <a:ext cx="9601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spc="-50" kern="0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Four steps, no handoffs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6974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07238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Listen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602736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start with how your teams actually work — not how the software assumes they do.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3405530" y="26974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3405530" y="307238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</a:t>
            </a:r>
            <a:endParaRPr lang="en-US" sz="2300" dirty="0"/>
          </a:p>
        </p:txBody>
      </p:sp>
      <p:sp>
        <p:nvSpPr>
          <p:cNvPr id="9" name="Text 7"/>
          <p:cNvSpPr txBox="1"/>
          <p:nvPr/>
        </p:nvSpPr>
        <p:spPr>
          <a:xfrm>
            <a:off x="3405530" y="3602736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plan measured in outcomes, priced by the people who deliver it.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6170981" y="26974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170981" y="307238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2300" dirty="0"/>
          </a:p>
        </p:txBody>
      </p:sp>
      <p:sp>
        <p:nvSpPr>
          <p:cNvPr id="12" name="Text 10"/>
          <p:cNvSpPr txBox="1"/>
          <p:nvPr/>
        </p:nvSpPr>
        <p:spPr>
          <a:xfrm>
            <a:off x="6170981" y="3602736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Configuration and integration in short, visible cycles, in your own environment.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8936431" y="2697480"/>
            <a:ext cx="261518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8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936431" y="3072384"/>
            <a:ext cx="261518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0B0B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2300" dirty="0"/>
          </a:p>
        </p:txBody>
      </p:sp>
      <p:sp>
        <p:nvSpPr>
          <p:cNvPr id="15" name="Text 13"/>
          <p:cNvSpPr txBox="1"/>
          <p:nvPr/>
        </p:nvSpPr>
        <p:spPr>
          <a:xfrm>
            <a:off x="8936431" y="3602736"/>
            <a:ext cx="2615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42000"/>
              </a:lnSpc>
              <a:buNone/>
            </a:pPr>
            <a:r>
              <a:rPr lang="en-US" sz="125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stay accountable after go-live, until boring is the default.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7" name="Shape 15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8" name="Shape 16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9" name="Shape 17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0" name="Shape 18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1" name="Shape 19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2" name="Shape 20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3" name="Shape 21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4" name="Shape 22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5" name="Shape 23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6" name="Shape 24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6E6A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1153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60" kern="0" dirty="0">
                <a:solidFill>
                  <a:srgbClr val="A978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THEIR WORDS</a:t>
            </a:r>
            <a:endParaRPr lang="en-US" sz="105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00200"/>
            <a:ext cx="100584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8000"/>
              </a:lnSpc>
              <a:buNone/>
            </a:pPr>
            <a:r>
              <a:rPr lang="en-US" sz="3200" i="1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 quote from a client, kept short enough to read in one breath and specific enough to be worth quoting.”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6177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20" kern="0" dirty="0">
                <a:solidFill>
                  <a:srgbClr val="C889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NAME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937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Title, Company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40080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7" name="Shape 5"/>
          <p:cNvSpPr/>
          <p:nvPr/>
        </p:nvSpPr>
        <p:spPr>
          <a:xfrm>
            <a:off x="669798" y="6190488"/>
            <a:ext cx="22860" cy="2011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8" name="Shape 6"/>
          <p:cNvSpPr/>
          <p:nvPr/>
        </p:nvSpPr>
        <p:spPr>
          <a:xfrm>
            <a:off x="699516" y="6247638"/>
            <a:ext cx="22860" cy="8686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9" name="Shape 7"/>
          <p:cNvSpPr/>
          <p:nvPr/>
        </p:nvSpPr>
        <p:spPr>
          <a:xfrm>
            <a:off x="729234" y="623620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0" name="Shape 8"/>
          <p:cNvSpPr/>
          <p:nvPr/>
        </p:nvSpPr>
        <p:spPr>
          <a:xfrm>
            <a:off x="729234" y="6293358"/>
            <a:ext cx="22860" cy="52578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1" name="Shape 9"/>
          <p:cNvSpPr/>
          <p:nvPr/>
        </p:nvSpPr>
        <p:spPr>
          <a:xfrm>
            <a:off x="758952" y="6220206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2" name="Shape 10"/>
          <p:cNvSpPr/>
          <p:nvPr/>
        </p:nvSpPr>
        <p:spPr>
          <a:xfrm>
            <a:off x="758952" y="6313932"/>
            <a:ext cx="22860" cy="48006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3" name="Shape 11"/>
          <p:cNvSpPr/>
          <p:nvPr/>
        </p:nvSpPr>
        <p:spPr>
          <a:xfrm>
            <a:off x="788670" y="6204204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4" name="Shape 12"/>
          <p:cNvSpPr/>
          <p:nvPr/>
        </p:nvSpPr>
        <p:spPr>
          <a:xfrm>
            <a:off x="788670" y="6334506"/>
            <a:ext cx="22860" cy="43434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5" name="Shape 13"/>
          <p:cNvSpPr/>
          <p:nvPr/>
        </p:nvSpPr>
        <p:spPr>
          <a:xfrm>
            <a:off x="818388" y="6190488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6" name="Shape 14"/>
          <p:cNvSpPr/>
          <p:nvPr/>
        </p:nvSpPr>
        <p:spPr>
          <a:xfrm>
            <a:off x="818388" y="6352794"/>
            <a:ext cx="22860" cy="38862"/>
          </a:xfrm>
          <a:prstGeom prst="rect">
            <a:avLst/>
          </a:prstGeom>
          <a:solidFill>
            <a:srgbClr val="CBB9A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10454335" y="614476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16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getsh\AppData\Local\Temp\claude\C--Users-getsh-Claude-Projects-Domain-Name\b922e281-501f-4fef-92d6-124eb0dc05fa\scratchpad\hero-gradient-fl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40080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4" name="Shape 1"/>
          <p:cNvSpPr/>
          <p:nvPr/>
        </p:nvSpPr>
        <p:spPr>
          <a:xfrm>
            <a:off x="686008" y="502920"/>
            <a:ext cx="35329" cy="310896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5" name="Shape 2"/>
          <p:cNvSpPr/>
          <p:nvPr/>
        </p:nvSpPr>
        <p:spPr>
          <a:xfrm>
            <a:off x="731936" y="591243"/>
            <a:ext cx="35329" cy="13425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6" name="Shape 3"/>
          <p:cNvSpPr/>
          <p:nvPr/>
        </p:nvSpPr>
        <p:spPr>
          <a:xfrm>
            <a:off x="777863" y="573578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7" name="Shape 4"/>
          <p:cNvSpPr/>
          <p:nvPr/>
        </p:nvSpPr>
        <p:spPr>
          <a:xfrm>
            <a:off x="777863" y="661901"/>
            <a:ext cx="35329" cy="81257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8" name="Shape 5"/>
          <p:cNvSpPr/>
          <p:nvPr/>
        </p:nvSpPr>
        <p:spPr>
          <a:xfrm>
            <a:off x="823791" y="548848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9" name="Shape 6"/>
          <p:cNvSpPr/>
          <p:nvPr/>
        </p:nvSpPr>
        <p:spPr>
          <a:xfrm>
            <a:off x="823791" y="693697"/>
            <a:ext cx="35329" cy="74191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0" name="Shape 7"/>
          <p:cNvSpPr/>
          <p:nvPr/>
        </p:nvSpPr>
        <p:spPr>
          <a:xfrm>
            <a:off x="869719" y="524117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1" name="Shape 8"/>
          <p:cNvSpPr/>
          <p:nvPr/>
        </p:nvSpPr>
        <p:spPr>
          <a:xfrm>
            <a:off x="869719" y="725493"/>
            <a:ext cx="35329" cy="67125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2" name="Shape 9"/>
          <p:cNvSpPr/>
          <p:nvPr/>
        </p:nvSpPr>
        <p:spPr>
          <a:xfrm>
            <a:off x="915647" y="502920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3" name="Shape 10"/>
          <p:cNvSpPr/>
          <p:nvPr/>
        </p:nvSpPr>
        <p:spPr>
          <a:xfrm>
            <a:off x="915647" y="753757"/>
            <a:ext cx="35329" cy="60059"/>
          </a:xfrm>
          <a:prstGeom prst="rect">
            <a:avLst/>
          </a:prstGeom>
          <a:solidFill>
            <a:srgbClr val="F2EFE7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1552" y="466344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374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KELCIS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2606040"/>
            <a:ext cx="8686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spc="-70" kern="0" dirty="0">
                <a:solidFill>
                  <a:srgbClr val="F2EFE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a conversation</a:t>
            </a:r>
            <a:endParaRPr lang="en-US" sz="44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379476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EFE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hello@kelcis.com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4279392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B9A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kelcis.com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36815" y="614476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240" kern="0" dirty="0">
                <a:solidFill>
                  <a:srgbClr val="CBB9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QUIET EXECUTION.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Kelcis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Kelcis Presentation Template</dc:title>
  <dc:subject>Brand presentation template</dc:subject>
  <dc:creator>Kelcis</dc:creator>
  <cp:lastModifiedBy>Kelcis</cp:lastModifiedBy>
  <cp:revision>1</cp:revision>
  <dcterms:created xsi:type="dcterms:W3CDTF">2026-09-24T21:27:27Z</dcterms:created>
  <dcterms:modified xsi:type="dcterms:W3CDTF">2026-09-24T21:27:28Z</dcterms:modified>
</cp:coreProperties>
</file>