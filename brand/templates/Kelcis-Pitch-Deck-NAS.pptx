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[CLIENT NAME] and the date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Kelcis positioning. Honest by design — no client names or results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range. Leads with consulting, closes with the managed-service wrapper.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transformation story. Edit the 'typically connected' line to name the prospect's actual stack — it lands far harder when they see their own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rationale. Verify the time-to-value and TCO framing against current Freshworks collateral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Freshservice capability map. Add product screenshots from your internal access — a real screen beats a capability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ESM expansion — usually the strongest commercial argument, since it widens the footprint without a new platform. Replace the AI line with current Freddy AI positioning from your internal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partnership case for NAS. The argument that matters to them is the last line — asset data makes the next hardware conversation evidenced instead of speculative. Add Freshservice ITAM screenshots here from the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Freshdesk kept deliberately short. The closing line is the cross-sell into running both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model. Name the commercial option you are actually proposing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small, concrete ask — a single workflow is easier to say yes to than a platform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etsh\AppData\Local\Temp\claude\C--Users-getsh-Claude-Projects-Domain-Name\b922e281-501f-4fef-92d6-124eb0dc05fa\scratchpad\hero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5329" cy="310896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4" name="Shape 1"/>
          <p:cNvSpPr/>
          <p:nvPr/>
        </p:nvSpPr>
        <p:spPr>
          <a:xfrm>
            <a:off x="686008" y="502920"/>
            <a:ext cx="35329" cy="310896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" name="Shape 2"/>
          <p:cNvSpPr/>
          <p:nvPr/>
        </p:nvSpPr>
        <p:spPr>
          <a:xfrm>
            <a:off x="731936" y="591243"/>
            <a:ext cx="35329" cy="13425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6" name="Shape 3"/>
          <p:cNvSpPr/>
          <p:nvPr/>
        </p:nvSpPr>
        <p:spPr>
          <a:xfrm>
            <a:off x="777863" y="573578"/>
            <a:ext cx="35329" cy="81257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7" name="Shape 4"/>
          <p:cNvSpPr/>
          <p:nvPr/>
        </p:nvSpPr>
        <p:spPr>
          <a:xfrm>
            <a:off x="777863" y="661901"/>
            <a:ext cx="35329" cy="81257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8" name="Shape 5"/>
          <p:cNvSpPr/>
          <p:nvPr/>
        </p:nvSpPr>
        <p:spPr>
          <a:xfrm>
            <a:off x="823791" y="548848"/>
            <a:ext cx="35329" cy="7419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9" name="Shape 6"/>
          <p:cNvSpPr/>
          <p:nvPr/>
        </p:nvSpPr>
        <p:spPr>
          <a:xfrm>
            <a:off x="823791" y="693697"/>
            <a:ext cx="35329" cy="7419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0" name="Shape 7"/>
          <p:cNvSpPr/>
          <p:nvPr/>
        </p:nvSpPr>
        <p:spPr>
          <a:xfrm>
            <a:off x="869719" y="524117"/>
            <a:ext cx="35329" cy="67125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" name="Shape 8"/>
          <p:cNvSpPr/>
          <p:nvPr/>
        </p:nvSpPr>
        <p:spPr>
          <a:xfrm>
            <a:off x="869719" y="725493"/>
            <a:ext cx="35329" cy="67125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2" name="Shape 9"/>
          <p:cNvSpPr/>
          <p:nvPr/>
        </p:nvSpPr>
        <p:spPr>
          <a:xfrm>
            <a:off x="915647" y="502920"/>
            <a:ext cx="35329" cy="60059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" name="Shape 10"/>
          <p:cNvSpPr/>
          <p:nvPr/>
        </p:nvSpPr>
        <p:spPr>
          <a:xfrm>
            <a:off x="915647" y="753757"/>
            <a:ext cx="35329" cy="60059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81552" y="466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74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KELCIS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19456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spc="-6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operations,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spc="-6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kept.</a:t>
            </a:r>
            <a:endParaRPr lang="en-US" sz="4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160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Freshworks consulting, bespoke integration and managed service operations.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349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 ·  NAS IT SOLUTIONS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625535" y="6144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consultancy built to be kept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B0B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Kelcis designs, builds and runs service operations for companies in the Gulf. We take on fewer engagements than we could, and staff each one with the people who scoped it — from first workshop to final handover.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41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people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988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who scope your engagement deliver it. No handover to a delivery bench.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4208" y="388620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04208" y="4041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hand over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04208" y="44988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we configure is documented and explainable — you are never locked 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68335" y="388620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68335" y="4041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in outcomes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168335" y="44988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Response, resolution and adoption targets agreed before we start, reported against after.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5" name="Shape 13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6" name="Shape 14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7" name="Shape 15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disciplines, one standard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9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Freshworks consulting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0837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Implementation, audits and architecture across the suite.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404208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404208" y="2569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404208" y="300837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platform run and refined by named engineers.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168335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168335" y="2569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integrations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168335" y="300837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to the systems your business already trusts.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611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70001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routine removed, with a human override on everything.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404208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404208" y="42611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404208" y="470001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Front-line desks staffed, measured and coached weekly.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168335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168335" y="42611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168335" y="470001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Adoption, health and renewals managed as a discipline.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9" name="Shape 27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0" name="Shape 28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1" name="Shape 29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2" name="Shape 30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Every system. Run for you.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B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service estates are not short of software — they are short of connection. We consolidate the platform, wire it to what you already run, automate what nobody should be doing by hand, then operate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71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88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1012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22192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desks, inboxes and trackers become one service platform with one queue and one source of truth.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05530" y="2971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88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405530" y="331012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405530" y="3822192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integrations to the systems that run your business, so data moves without people carrying it.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0981" y="2971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88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170981" y="331012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170981" y="3822192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approvals and follow-ups run themselves — documented, reversible and owned by you.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936431" y="2971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88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936431" y="331012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936431" y="3822192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run it as a managed service: administration, optimisation and reporting against agreed outcomes.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468112"/>
            <a:ext cx="10911535" cy="0"/>
          </a:xfrm>
          <a:prstGeom prst="line">
            <a:avLst/>
          </a:prstGeom>
          <a:noFill/>
          <a:ln w="9525">
            <a:solidFill>
              <a:srgbClr val="3A32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614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CONNECTED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2531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 ·  HRIS  ·  Identity &amp; SSO  ·  Finance &amp; billing  ·  Telephony  ·  Endpoint management  ·  Monitoring  ·  Data warehouse  ·  Microsoft 365  ·  Google Workspace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build on Freshworks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74175" y="868680"/>
            <a:ext cx="2377440" cy="914400"/>
          </a:xfrm>
          <a:prstGeom prst="rect">
            <a:avLst/>
          </a:prstGeom>
          <a:noFill/>
          <a:ln w="12700">
            <a:solidFill>
              <a:srgbClr val="E3DDCE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74175" y="868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B4A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FRESHWORKS LOGO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B0B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service software without the enterprise implementation. Freshworks deploys in weeks rather than quarters, is configured by the people who use it, and carries a total cost that survives a finance review.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767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value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2452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weeks. Configuration over custom development, so the first workflows land early.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4208" y="361188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04208" y="3767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ownership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04208" y="422452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and administration that scale with use, not with a professional-services dependency.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68335" y="361188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68335" y="3767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168335" y="422452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people use without training decks — the measure of whether a rollout actually worked.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69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Kelcis is an independent consultancy and is not affiliated with Freshworks Inc. Product names and marks are the property of their respective owners.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FRESHSERVICE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service management, without the ceremony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74175" y="868680"/>
            <a:ext cx="2377440" cy="914400"/>
          </a:xfrm>
          <a:prstGeom prst="rect">
            <a:avLst/>
          </a:prstGeom>
          <a:noFill/>
          <a:ln w="12700">
            <a:solidFill>
              <a:srgbClr val="4A423A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74175" y="868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6F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FRESHSERVICE LOGO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desk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0779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Incident, problem, change and release handled in one queue, with the ITIL practices you actually use.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04208" y="2487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catalogue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404208" y="290779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raised from a catalogue people can navigate, with approvals routed automatically.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68335" y="2487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&amp; CMDB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68335" y="290779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Hardware, software and contracts tracked with relationships mapped, so change has context.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626864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approvals and escalation built visually — no scripts nobody can maintain.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04208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journeys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404208" y="4626864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offboarding as orchestrated workflows across IT, HR and facilities.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68335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168335" y="4626864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Response, resolution, backlog and satisfaction reported with commentary leadership will read.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Shape 26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FRESHSERVICE  ·  BEYOND 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desk, for every department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management stops being an IT tool the moment other teams run on it. The licence you already own extends to the departments that field the most repetitive requests.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2615184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364992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95344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Incidents, requests, access, assets, change — the core desk.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5530" y="3200400"/>
            <a:ext cx="2615184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5530" y="3364992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3405530" y="3895344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Onboarding, letters, leave queries and policy requests, with confidentiality preserved.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0981" y="3200400"/>
            <a:ext cx="2615184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0981" y="3364992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6170981" y="3895344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Maintenance, access cards, seating and vendor coordination on the same queue.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36431" y="3200400"/>
            <a:ext cx="2615184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36431" y="3364992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8936431" y="3895344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approvals, vendor onboarding, invoice queries and reimbursement requests.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577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 next:  AI-assisted triage and deflection, once the desk has enough clean history to learn from.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Shape 26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MANAGEMENT  ·  WHERE WE FIT TOGETHER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asset you ship, accounted for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delivers the infrastructure. Freshservice keeps the record of it — every switch, server, firewall and endpoint with its warranty, contract, owner and location in one register, from purchase through disposal.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31012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2219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and agent discovery build the inventory automatically, so the register reflects what is deployed, not what was ordered.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4208" y="315468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04208" y="331012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404208" y="382219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Warranty, AMC, licence and support dates held against each asset, surfaced before they lapse rather than after.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68335" y="315468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68335" y="331012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8168335" y="382219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and capacity decisions made on real age and support status, so the next purchase is evidenced rather than estimated.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102352"/>
            <a:ext cx="10911535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52486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PARTNERSHIP WORKS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4126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supplies the estate and makes the introduction. Kelcis implements Freshservice and runs it. The client gets one view of what they own — and comes back to NAS for the refresh with a date and a reason attached.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FRESHDESK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customer is waiting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74175" y="868680"/>
            <a:ext cx="2377440" cy="914400"/>
          </a:xfrm>
          <a:prstGeom prst="rect">
            <a:avLst/>
          </a:prstGeom>
          <a:noFill/>
          <a:ln w="12700">
            <a:solidFill>
              <a:srgbClr val="E3DDCE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74175" y="868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B4A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FRESHDESK LOGO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B0B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Freshservice serves your employees, Freshdesk serves your customers — every channel landing in one queue, with the context already attached.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416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chat, voice, web and messaging apps in a single queue with one customer history.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4208" y="342900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04208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04208" y="40416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knowledge base that deflects the repeat questions before they become tickets.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68335" y="342900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68335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 &amp; escalation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168335" y="40416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 tracked per customer tier, with escalation before a breach, not after.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864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both and the join matters: an employee request and a customer complaint about the same incident should never be two separate investigations.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ENGAGE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then we stay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3347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63824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short, structured discovery of how your teams work today — not how the software assumes they do.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405530" y="22860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405530" y="263347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05530" y="3163824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measured in outcomes, priced by the people who deliver it.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170981" y="22860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70981" y="263347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70981" y="3163824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Configuration, integration and automation in visible weekly cycles, in your own environment.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936431" y="22860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936431" y="263347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936431" y="3163824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 after go-live: administration, optimisation and reporting.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911535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047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OPTIONS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949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705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scope, fixed price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04208" y="53949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04208" y="5705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Monthly, named engineers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68335" y="53949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168335" y="5705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and roadmap only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Shape 26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9" name="Shape 27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1" name="Shape 29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2" name="Shape 30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3" name="Shape 31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4" name="Shape 32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etsh\AppData\Local\Temp\claude\C--Users-getsh-Claude-Projects-Domain-Name\b922e281-501f-4fef-92d6-124eb0dc05fa\scratchpad\hero-gradient-f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5329" cy="310896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4" name="Shape 1"/>
          <p:cNvSpPr/>
          <p:nvPr/>
        </p:nvSpPr>
        <p:spPr>
          <a:xfrm>
            <a:off x="686008" y="502920"/>
            <a:ext cx="35329" cy="310896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" name="Shape 2"/>
          <p:cNvSpPr/>
          <p:nvPr/>
        </p:nvSpPr>
        <p:spPr>
          <a:xfrm>
            <a:off x="731936" y="591243"/>
            <a:ext cx="35329" cy="13425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6" name="Shape 3"/>
          <p:cNvSpPr/>
          <p:nvPr/>
        </p:nvSpPr>
        <p:spPr>
          <a:xfrm>
            <a:off x="777863" y="573578"/>
            <a:ext cx="35329" cy="81257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7" name="Shape 4"/>
          <p:cNvSpPr/>
          <p:nvPr/>
        </p:nvSpPr>
        <p:spPr>
          <a:xfrm>
            <a:off x="777863" y="661901"/>
            <a:ext cx="35329" cy="81257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8" name="Shape 5"/>
          <p:cNvSpPr/>
          <p:nvPr/>
        </p:nvSpPr>
        <p:spPr>
          <a:xfrm>
            <a:off x="823791" y="548848"/>
            <a:ext cx="35329" cy="7419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9" name="Shape 6"/>
          <p:cNvSpPr/>
          <p:nvPr/>
        </p:nvSpPr>
        <p:spPr>
          <a:xfrm>
            <a:off x="823791" y="693697"/>
            <a:ext cx="35329" cy="7419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0" name="Shape 7"/>
          <p:cNvSpPr/>
          <p:nvPr/>
        </p:nvSpPr>
        <p:spPr>
          <a:xfrm>
            <a:off x="869719" y="524117"/>
            <a:ext cx="35329" cy="67125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" name="Shape 8"/>
          <p:cNvSpPr/>
          <p:nvPr/>
        </p:nvSpPr>
        <p:spPr>
          <a:xfrm>
            <a:off x="869719" y="725493"/>
            <a:ext cx="35329" cy="67125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2" name="Shape 9"/>
          <p:cNvSpPr/>
          <p:nvPr/>
        </p:nvSpPr>
        <p:spPr>
          <a:xfrm>
            <a:off x="915647" y="502920"/>
            <a:ext cx="35329" cy="60059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" name="Shape 10"/>
          <p:cNvSpPr/>
          <p:nvPr/>
        </p:nvSpPr>
        <p:spPr>
          <a:xfrm>
            <a:off x="915647" y="753757"/>
            <a:ext cx="35329" cy="60059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81552" y="466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74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KELCIS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2860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7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workflow.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4290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F2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would rather prove this on a single process than present another slide about it. Give us your most repetitive workflow and we will show you what it looks like working.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709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hello@kelcis.com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1389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B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kelcis.com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436815" y="6144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4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EXECUTION.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Kelcis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Kelcis — Service operations on Freshworks</dc:title>
  <dc:subject>PptxGenJS Presentation</dc:subject>
  <dc:creator>Kelcis</dc:creator>
  <cp:lastModifiedBy>Kelcis</cp:lastModifiedBy>
  <cp:revision>1</cp:revision>
  <dcterms:created xsi:type="dcterms:W3CDTF">2026-09-25T07:13:40Z</dcterms:created>
  <dcterms:modified xsi:type="dcterms:W3CDTF">2026-09-25T07:13:40Z</dcterms:modified>
</cp:coreProperties>
</file>